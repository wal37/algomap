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D8E0EA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87184" y="658368"/>
            <a:ext cx="4352544" cy="5577840"/>
          </a:xfrm>
          <a:prstGeom prst="rect">
            <a:avLst/>
          </a:prstGeom>
          <a:solidFill>
            <a:srgbClr val="1D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005840"/>
            <a:ext cx="3730752" cy="932688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73568" y="2267712"/>
            <a:ext cx="2852928" cy="749808"/>
          </a:xfrm>
          <a:prstGeom prst="rect">
            <a:avLst/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3401568"/>
            <a:ext cx="3730752" cy="2340864"/>
          </a:xfrm>
          <a:prstGeom prst="rect">
            <a:avLst/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932688"/>
            <a:ext cx="768096" cy="768096"/>
          </a:xfrm>
          <a:prstGeom prst="roundRect">
            <a:avLst>
              <a:gd name="adj" fmla="val 16000"/>
            </a:avLst>
          </a:prstGeom>
          <a:solidFill>
            <a:srgbClr val="16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2568" y="1070551"/>
            <a:ext cx="118168" cy="512063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9516" y="1169025"/>
            <a:ext cx="118168" cy="413590"/>
          </a:xfrm>
          <a:prstGeom prst="rect">
            <a:avLst/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26463" y="1011467"/>
            <a:ext cx="118168" cy="571148"/>
          </a:xfrm>
          <a:prstGeom prst="rect">
            <a:avLst/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2568" y="1484141"/>
            <a:ext cx="512063" cy="787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1847088"/>
            <a:ext cx="3582619" cy="347472"/>
          </a:xfrm>
          <a:prstGeom prst="roundRect">
            <a:avLst>
              <a:gd name="adj" fmla="val 140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1911096"/>
            <a:ext cx="3418027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GIS AND LOGISTICS OPERATING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95728"/>
            <a:ext cx="53035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Algomap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73552"/>
            <a:ext cx="5486400" cy="131673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0">
                <a:solidFill>
                  <a:srgbClr val="D8E0EA"/>
                </a:solidFill>
                <a:latin typeface="Aptos"/>
              </a:rPr>
              <a:t>A routing, mapping, and spatial operations platform for fleets, assets, field teams, and infrastructure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32704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5D3E8"/>
                </a:solidFill>
                <a:latin typeface="Aptos"/>
              </a:rPr>
              <a:t>Pitch deck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E78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98755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0E1720"/>
                </a:solidFill>
                <a:latin typeface="Aptos"/>
              </a:rPr>
              <a:t>Spatial operations still break down across disconnected maps, dispatch tools, records, and manual routing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50592"/>
            <a:ext cx="10149840" cy="54864"/>
          </a:xfrm>
          <a:prstGeom prst="rect">
            <a:avLst/>
          </a:prstGeom>
          <a:solidFill>
            <a:srgbClr val="0E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89504"/>
            <a:ext cx="3163824" cy="19933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090672"/>
            <a:ext cx="2816352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Fragmented map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47872"/>
            <a:ext cx="2798064" cy="11521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Routing, field data, infrastructure layers, and operations records often live in separate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889504"/>
            <a:ext cx="3163824" cy="1993392"/>
          </a:xfrm>
          <a:prstGeom prst="roundRect">
            <a:avLst>
              <a:gd name="adj" fmla="val 35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090672"/>
            <a:ext cx="2816352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Slow dispatch and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547872"/>
            <a:ext cx="2798064" cy="11521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Logistics teams lose time moving between schedules, maps, and incident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2889504"/>
            <a:ext cx="3163824" cy="19933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3090672"/>
            <a:ext cx="2816352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Weak historical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3547872"/>
            <a:ext cx="2798064" cy="11521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Location-linked decisions are hard to review, compare, and optimize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03504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Operational teams need one spatial layer that connects movement, assets, and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760720" cy="85953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07286"/>
                </a:solidFill>
                <a:latin typeface="Aptos"/>
              </a:rPr>
              <a:t>As logistics networks, field services, utilities, and infrastructure programs scale, the bottleneck shifts toward coordination across geography, not just more raw location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914400"/>
            <a:ext cx="3840480" cy="4846320"/>
          </a:xfrm>
          <a:prstGeom prst="rect">
            <a:avLst/>
          </a:prstGeom>
          <a:solidFill>
            <a:srgbClr val="1D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33488" y="1225296"/>
            <a:ext cx="3291840" cy="914400"/>
          </a:xfrm>
          <a:prstGeom prst="roundRect">
            <a:avLst>
              <a:gd name="adj" fmla="val 35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6" y="1426464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Shift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6" y="1883664"/>
            <a:ext cx="2926080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Every operation is now location-linked.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2596896"/>
            <a:ext cx="3291840" cy="914400"/>
          </a:xfrm>
          <a:prstGeom prst="roundRect">
            <a:avLst>
              <a:gd name="adj" fmla="val 35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2798064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Shift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3255264"/>
            <a:ext cx="2926080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Fleet, field, and infrastructure teams need faster routing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3968496"/>
            <a:ext cx="3291840" cy="914400"/>
          </a:xfrm>
          <a:prstGeom prst="roundRect">
            <a:avLst>
              <a:gd name="adj" fmla="val 3500"/>
            </a:avLst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4169664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Shift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4626864"/>
            <a:ext cx="2926080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Historical spatial records are becoming a competitive asset.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D8E0E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2179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Algomap is a spatial operating system for routing, mapping, and logistics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6126480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D8E0EA"/>
                </a:solidFill>
                <a:latin typeface="Aptos"/>
              </a:rPr>
              <a:t>The platform combines GIS layers, route planning, asset visibility, field records, and operational analytics into one working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85615"/>
            <a:ext cx="2359152" cy="1591056"/>
          </a:xfrm>
          <a:prstGeom prst="roundRect">
            <a:avLst>
              <a:gd name="adj" fmla="val 35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986783"/>
            <a:ext cx="20116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Mapping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443983"/>
            <a:ext cx="1993392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Base maps, boundaries, roads, assets, and live overlays.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3785615"/>
            <a:ext cx="2359152" cy="1591056"/>
          </a:xfrm>
          <a:prstGeom prst="roundRect">
            <a:avLst>
              <a:gd name="adj" fmla="val 35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3986783"/>
            <a:ext cx="20116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Routing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4443983"/>
            <a:ext cx="1993392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Stops, optimization, ETA logic, and movement planning.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85615"/>
            <a:ext cx="2359152" cy="1591056"/>
          </a:xfrm>
          <a:prstGeom prst="roundRect">
            <a:avLst>
              <a:gd name="adj" fmla="val 3500"/>
            </a:avLst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3986783"/>
            <a:ext cx="20116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Field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443983"/>
            <a:ext cx="1993392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Incident logs, inspections, photos, and crew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9952" y="3785615"/>
            <a:ext cx="2359152" cy="15910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986783"/>
            <a:ext cx="20116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Analytics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443983"/>
            <a:ext cx="1993392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Performance, coverage, and spatial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810511" cy="347472"/>
          </a:xfrm>
          <a:prstGeom prst="roundRect">
            <a:avLst>
              <a:gd name="adj" fmla="val 140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645919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CORE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2179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Built around the full spatial operations stack, not one isolated map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79776"/>
            <a:ext cx="3182112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980944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GIS and layer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38144"/>
            <a:ext cx="2816352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Administrative boundaries, infrastructure layers, service zones, asset points, and custom overlays.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779776"/>
            <a:ext cx="3182112" cy="1938528"/>
          </a:xfrm>
          <a:prstGeom prst="roundRect">
            <a:avLst>
              <a:gd name="adj" fmla="val 35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980944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Routing and 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438144"/>
            <a:ext cx="2816352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Route creation, optimization, scheduling, stop sequencing, and travel-time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779776"/>
            <a:ext cx="3182112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980944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Field records and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438144"/>
            <a:ext cx="2816352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Inspections, incidents, work orders, spatial logs, and coverage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585216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Routing is only valuable when it stays connected to real operating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5669280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07286"/>
                </a:solidFill>
                <a:latin typeface="Aptos"/>
              </a:rPr>
              <a:t>Algomap ties dispatch and route planning to geography, field updates, asset conditions, and historical movement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4032" y="877824"/>
            <a:ext cx="3822191" cy="5120640"/>
          </a:xfrm>
          <a:prstGeom prst="rect">
            <a:avLst/>
          </a:prstGeom>
          <a:solidFill>
            <a:srgbClr val="16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8352" y="1188720"/>
            <a:ext cx="3273552" cy="914400"/>
          </a:xfrm>
          <a:prstGeom prst="roundRect">
            <a:avLst>
              <a:gd name="adj" fmla="val 35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29260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Route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47088"/>
            <a:ext cx="2907792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Plan stops, service zones, delivery paths, and time windows.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2542032"/>
            <a:ext cx="3273552" cy="914400"/>
          </a:xfrm>
          <a:prstGeom prst="roundRect">
            <a:avLst>
              <a:gd name="adj" fmla="val 35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743200"/>
            <a:ext cx="29260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Fleet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200400"/>
            <a:ext cx="2907792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Track vehicles, crews, and coverage by area or assignment.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3895344"/>
            <a:ext cx="3273552" cy="914400"/>
          </a:xfrm>
          <a:prstGeom prst="roundRect">
            <a:avLst>
              <a:gd name="adj" fmla="val 3500"/>
            </a:avLst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096512"/>
            <a:ext cx="29260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Exception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553712"/>
            <a:ext cx="2907792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Respond to congestion, outages, delays, or field incidents from one map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16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GIS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2179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The GIS layer turns maps into operational structure, not just visualization.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2450592" cy="1773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035808"/>
            <a:ext cx="2103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Asset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93008"/>
            <a:ext cx="2084832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Roads, depots, service points, pipelines, towers, or delivery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2834640"/>
            <a:ext cx="2450592" cy="1773936"/>
          </a:xfrm>
          <a:prstGeom prst="roundRect">
            <a:avLst>
              <a:gd name="adj" fmla="val 35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3904" y="3035808"/>
            <a:ext cx="2103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Zone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3493008"/>
            <a:ext cx="2084832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Coverage areas, districts, clusters, and assignment boundaries.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834640"/>
            <a:ext cx="2450592" cy="17739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2103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Field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93008"/>
            <a:ext cx="2084832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Attach records, incidents, inspections, and photos to locations.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2834640"/>
            <a:ext cx="1920240" cy="1773936"/>
          </a:xfrm>
          <a:prstGeom prst="roundRect">
            <a:avLst>
              <a:gd name="adj" fmla="val 35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3035808"/>
            <a:ext cx="15727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Spatial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493008"/>
            <a:ext cx="1554480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Review what happened, where, and how often.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566928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The operating rhythm is map, route, execute, and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49039"/>
            <a:ext cx="10058400" cy="73152"/>
          </a:xfrm>
          <a:prstGeom prst="rect">
            <a:avLst/>
          </a:prstGeom>
          <a:solidFill>
            <a:srgbClr val="0E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3529584"/>
            <a:ext cx="164592" cy="493776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999232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5D3E8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51376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53712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Define assets, boundaries, service zones, and active layers.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3529584"/>
            <a:ext cx="164592" cy="493776"/>
          </a:xfrm>
          <a:prstGeom prst="rect">
            <a:avLst/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999232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EE7A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151376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553712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Build travel plans, dispatch logic, and coverage assignments.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529584"/>
            <a:ext cx="164592" cy="493776"/>
          </a:xfrm>
          <a:prstGeom prst="rect">
            <a:avLst/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999232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0B44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51376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53712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Track field work, deliveries, inspections, and exceptions.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9408" y="3529584"/>
            <a:ext cx="164592" cy="493776"/>
          </a:xfrm>
          <a:prstGeom prst="rect">
            <a:avLst/>
          </a:prstGeom>
          <a:solidFill>
            <a:srgbClr val="E78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999232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7846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151376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553712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Use spatial history to improve speed, coverage, and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E78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594360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Every movement and field action should create usable spatial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5852160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07286"/>
                </a:solidFill>
                <a:latin typeface="Aptos"/>
              </a:rPr>
              <a:t>Algomap preserves route history, field incidents, inspections, asset changes, and operator actions so teams can compare real geography-linked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4032" y="877824"/>
            <a:ext cx="3840480" cy="5138928"/>
          </a:xfrm>
          <a:prstGeom prst="rect">
            <a:avLst/>
          </a:prstGeom>
          <a:solidFill>
            <a:srgbClr val="1D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8352" y="1188720"/>
            <a:ext cx="3291840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Route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47088"/>
            <a:ext cx="292608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Stops, timing, and movement stay tied to geography.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2542032"/>
            <a:ext cx="3291840" cy="932688"/>
          </a:xfrm>
          <a:prstGeom prst="roundRect">
            <a:avLst>
              <a:gd name="adj" fmla="val 35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743200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Field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200400"/>
            <a:ext cx="292608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Inspections, incidents, and maintenance remain linked to locations.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3895344"/>
            <a:ext cx="3291840" cy="932688"/>
          </a:xfrm>
          <a:prstGeom prst="roundRect">
            <a:avLst>
              <a:gd name="adj" fmla="val 35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096512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Decision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553712"/>
            <a:ext cx="292608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Teams can review what happened, where, and how the system responded.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16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30936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Algomap serves any operation where movement, assets, and geography define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07792"/>
            <a:ext cx="2542032" cy="1755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08960"/>
            <a:ext cx="21945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Logistics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66160"/>
            <a:ext cx="2176272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Route vehicles, stops, schedules, and service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907792"/>
            <a:ext cx="2542032" cy="1755648"/>
          </a:xfrm>
          <a:prstGeom prst="roundRect">
            <a:avLst>
              <a:gd name="adj" fmla="val 35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3108960"/>
            <a:ext cx="21945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Field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3566160"/>
            <a:ext cx="2176272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Coordinate inspections, repairs, and mobile crews spatially.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07792"/>
            <a:ext cx="2542032" cy="1755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3108960"/>
            <a:ext cx="21945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Infrastructure 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566160"/>
            <a:ext cx="2176272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Monitor assets, zones, outages, and response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907792"/>
            <a:ext cx="1920240" cy="1755648"/>
          </a:xfrm>
          <a:prstGeom prst="roundRect">
            <a:avLst>
              <a:gd name="adj" fmla="val 35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3108960"/>
            <a:ext cx="15727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Public 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566160"/>
            <a:ext cx="155448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Track service delivery, coverage, and reporting by 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810511" cy="347472"/>
          </a:xfrm>
          <a:prstGeom prst="roundRect">
            <a:avLst>
              <a:gd name="adj" fmla="val 140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645919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12648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The moat is operational coordination around geography, not just maps on a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87168"/>
            <a:ext cx="10131552" cy="54864"/>
          </a:xfrm>
          <a:prstGeom prst="rect">
            <a:avLst/>
          </a:prstGeom>
          <a:solidFill>
            <a:srgbClr val="0E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944368"/>
            <a:ext cx="3163824" cy="1847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45536"/>
            <a:ext cx="2816352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Spatial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602736"/>
            <a:ext cx="2798064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Maps, routing, field execution, and records live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944368"/>
            <a:ext cx="3163824" cy="1847088"/>
          </a:xfrm>
          <a:prstGeom prst="roundRect">
            <a:avLst>
              <a:gd name="adj" fmla="val 35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145536"/>
            <a:ext cx="2816352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Operational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602736"/>
            <a:ext cx="2798064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Dispatch, incidents, and changes stay close to the map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2944368"/>
            <a:ext cx="3163824" cy="1847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3145536"/>
            <a:ext cx="2816352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Persistent spatial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3602736"/>
            <a:ext cx="2798064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History accumulates by zone, route, asset, and operator.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D8E0EA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932688"/>
            <a:ext cx="1717243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996696"/>
            <a:ext cx="1552651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BUSINESS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26464"/>
            <a:ext cx="566928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Software revenue, operational deployment, and location intelligence tooling.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80944"/>
            <a:ext cx="3182112" cy="1792224"/>
          </a:xfrm>
          <a:prstGeom prst="roundRect">
            <a:avLst>
              <a:gd name="adj" fmla="val 3500"/>
            </a:avLst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182112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Platform subscriptions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639312"/>
            <a:ext cx="2816352" cy="9509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Charge by team, fleet, region, or active operational environment.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980944"/>
            <a:ext cx="3182112" cy="1792224"/>
          </a:xfrm>
          <a:prstGeom prst="roundRect">
            <a:avLst>
              <a:gd name="adj" fmla="val 3500"/>
            </a:avLst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3182112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Enterprise deployments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639312"/>
            <a:ext cx="2816352" cy="9509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Support larger logistics, utility, and infrastructure operators.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2980944"/>
            <a:ext cx="3182112" cy="1792224"/>
          </a:xfrm>
          <a:prstGeom prst="roundRect">
            <a:avLst>
              <a:gd name="adj" fmla="val 3500"/>
            </a:avLst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3182112"/>
            <a:ext cx="28346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E1720"/>
                </a:solidFill>
                <a:latin typeface="Aptos"/>
              </a:rPr>
              <a:t>Implementation and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3639312"/>
            <a:ext cx="2816352" cy="9509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0E1720"/>
                </a:solidFill>
                <a:latin typeface="Aptos"/>
              </a:rPr>
              <a:t>Rollout, spatial modeling, and workflow design for complex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03504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E1720"/>
                </a:solidFill>
                <a:latin typeface="Aptos"/>
              </a:rPr>
              <a:t>The build path starts with spatial operations and expands into deeper optimization.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75887"/>
            <a:ext cx="10113264" cy="73152"/>
          </a:xfrm>
          <a:prstGeom prst="rect">
            <a:avLst/>
          </a:prstGeom>
          <a:solidFill>
            <a:srgbClr val="0E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3474720"/>
            <a:ext cx="146304" cy="512064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706624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9936"/>
            <a:ext cx="2414016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Core mapping, routing, assets, and field record modules.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474720"/>
            <a:ext cx="146304" cy="512064"/>
          </a:xfrm>
          <a:prstGeom prst="rect">
            <a:avLst/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706624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059936"/>
            <a:ext cx="2414016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Dispatch intelligence, exception workflows, and stronger analytics.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3474720"/>
            <a:ext cx="146304" cy="512064"/>
          </a:xfrm>
          <a:prstGeom prst="rect">
            <a:avLst/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706624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E1720"/>
                </a:solidFill>
                <a:latin typeface="Aptos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4059936"/>
            <a:ext cx="2414016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Predictive routing, infrastructure planning, and richer spatial automation.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36208"/>
            <a:ext cx="10881360" cy="18288"/>
          </a:xfrm>
          <a:prstGeom prst="rect">
            <a:avLst/>
          </a:prstGeom>
          <a:solidFill>
            <a:srgbClr val="5D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1945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0E1720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877824"/>
            <a:ext cx="10570464" cy="5413248"/>
          </a:xfrm>
          <a:prstGeom prst="rect">
            <a:avLst/>
          </a:prstGeom>
          <a:solidFill>
            <a:srgbClr val="1D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225296"/>
            <a:ext cx="749807" cy="749807"/>
          </a:xfrm>
          <a:prstGeom prst="roundRect">
            <a:avLst>
              <a:gd name="adj" fmla="val 16000"/>
            </a:avLst>
          </a:prstGeom>
          <a:solidFill>
            <a:srgbClr val="16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2635" y="1359876"/>
            <a:ext cx="115355" cy="499871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04893" y="1456006"/>
            <a:ext cx="115355" cy="403742"/>
          </a:xfrm>
          <a:prstGeom prst="rect">
            <a:avLst/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97151" y="1302199"/>
            <a:ext cx="115355" cy="557549"/>
          </a:xfrm>
          <a:prstGeom prst="rect">
            <a:avLst/>
          </a:prstGeom>
          <a:solidFill>
            <a:srgbClr val="F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2635" y="1763619"/>
            <a:ext cx="499871" cy="769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32588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203704"/>
            <a:ext cx="11612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0E1720"/>
                </a:solidFill>
                <a:latin typeface="Aptos"/>
              </a:rPr>
              <a:t>CLOSING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70048"/>
            <a:ext cx="5815584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Algomap gives spatial operations one cleaner decision 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57607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D8E0EA"/>
                </a:solidFill>
                <a:latin typeface="Aptos"/>
              </a:rPr>
              <a:t>The platform connects GIS, routing, field records, and logistics performance so teams can move faster and plan with more confidence.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1280160"/>
            <a:ext cx="3127248" cy="914400"/>
          </a:xfrm>
          <a:prstGeom prst="rect">
            <a:avLst/>
          </a:prstGeom>
          <a:solidFill>
            <a:srgbClr val="45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2487168"/>
            <a:ext cx="2596896" cy="749808"/>
          </a:xfrm>
          <a:prstGeom prst="rect">
            <a:avLst/>
          </a:prstGeom>
          <a:solidFill>
            <a:srgbClr val="6EE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71231" y="3602736"/>
            <a:ext cx="3127248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5" y="3986784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0E1720"/>
                </a:solidFill>
                <a:latin typeface="Aptos"/>
              </a:rPr>
              <a:t>Algomap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4443984"/>
            <a:ext cx="2523744" cy="6035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07286"/>
                </a:solidFill>
                <a:latin typeface="Aptos"/>
              </a:rPr>
              <a:t>GIS, mapping, and logistics operating system for fleets, assets, and field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